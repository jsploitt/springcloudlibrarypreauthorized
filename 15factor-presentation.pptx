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0"/>
            <a:ext cx="3474720" cy="51435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0" y="0"/>
            <a:ext cx="6400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77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SpringCloud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144475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System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15-Factor Application Methodology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every factor is addressed in this microservices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 455  —  University 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594360"/>
            <a:ext cx="685800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0" y="59436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F1-F5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748272" y="70408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 · Deps · Config · Services · Build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943600" y="1673352"/>
            <a:ext cx="685800" cy="5669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0" y="167335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F6-F9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48272" y="1783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· Ports · Concurrency · Disposability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43600" y="2752344"/>
            <a:ext cx="685800" cy="56692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0" y="275234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F10-F12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48272" y="286207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· Logs · Admin Processes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0" y="3831336"/>
            <a:ext cx="685800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0" y="383133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F13-F15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48272" y="394106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First · Telemetry · Auth/Authz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15-Factor Application Methodology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extension of the classic 12-Factor App — a set of principles for building modern, cloud-native, scalable software-as-a-service applications.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463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463040"/>
            <a:ext cx="16002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554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38328" y="1938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11680" y="1463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11680" y="1463040"/>
            <a:ext cx="16002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57400" y="1554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75688" y="1938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49040" y="1463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49040" y="1463040"/>
            <a:ext cx="16002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1554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13048" y="1938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0" y="1463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1463040"/>
            <a:ext cx="16002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32120" y="1554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550408" y="1938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Backing Services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463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223760" y="1463040"/>
            <a:ext cx="1600200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1554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87768" y="1938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Build/Release/Run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606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2606040"/>
            <a:ext cx="1600200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2697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38328" y="3081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11680" y="2606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011680" y="2606040"/>
            <a:ext cx="1600200" cy="5486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57400" y="2697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2075688" y="3081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Binding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749040" y="2606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749040" y="2606040"/>
            <a:ext cx="1600200" cy="5486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794760" y="2697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3813048" y="3081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0" y="2606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486400" y="2606040"/>
            <a:ext cx="16002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32120" y="2697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F9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5550408" y="3081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Disposability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223760" y="2606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223760" y="2606040"/>
            <a:ext cx="1600200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69480" y="2697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F10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287768" y="3081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Dev/Prod Parity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4320" y="3749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274320" y="3749040"/>
            <a:ext cx="16002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F11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338328" y="4224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011680" y="3749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2011680" y="3749040"/>
            <a:ext cx="1600200" cy="54864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5740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2075688" y="4224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Processes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749040" y="3749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E879F9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749040" y="3749040"/>
            <a:ext cx="1600200" cy="54864"/>
          </a:xfrm>
          <a:prstGeom prst="rect">
            <a:avLst/>
          </a:prstGeom>
          <a:solidFill>
            <a:srgbClr val="E879F9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947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F13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813048" y="4224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First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486400" y="3749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5486400" y="3749040"/>
            <a:ext cx="1600200" cy="5486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3212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F14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5550408" y="4224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7223760" y="3749040"/>
            <a:ext cx="1600200" cy="914400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223760" y="3749040"/>
            <a:ext cx="1600200" cy="54864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6948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F15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7287768" y="422452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Authz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93776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667512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667512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</a:t>
            </a:r>
            <a:endParaRPr lang="en-US" sz="1400" dirty="0"/>
          </a:p>
        </p:txBody>
      </p:sp>
      <p:sp>
        <p:nvSpPr>
          <p:cNvPr id="69" name="Text 67"/>
          <p:cNvSpPr/>
          <p:nvPr/>
        </p:nvSpPr>
        <p:spPr>
          <a:xfrm>
            <a:off x="365760" y="48188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= Specifically highlighted by instructor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 — Codebase  &amp;  Factor 2 — Dependencies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60520" cy="4023360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60120"/>
            <a:ext cx="416052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Codebase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tracked in version control, many deploys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82880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GitHub repository per microservice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repos under SWE455-proj-team: infra, user-service, book-service, api-gateway, eureka-server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SHA used as Docker image tag for full traceability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repo has its own GitHub Actions pipeline — independent CI/CD per service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246120"/>
            <a:ext cx="3840480" cy="685800"/>
          </a:xfrm>
          <a:prstGeom prst="rect">
            <a:avLst/>
          </a:prstGeom>
          <a:solidFill>
            <a:srgbClr val="0A0F1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3319272"/>
            <a:ext cx="36210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github.com/SWE455-proj-team/{service-name}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 tag: ghcr.io/...:&lt;git-sha&gt;  +  :latest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4005072"/>
            <a:ext cx="3840480" cy="685800"/>
          </a:xfrm>
          <a:prstGeom prst="rect">
            <a:avLst/>
          </a:prstGeom>
          <a:solidFill>
            <a:srgbClr val="0F2A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4069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repo per service — independent deploy, scale, and release cycle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960120"/>
            <a:ext cx="4160520" cy="4023360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960120"/>
            <a:ext cx="416052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Dependencies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declare and isolate all dependencies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92040" y="182880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pom.xml declares every dependency explicitly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 isolates the runtime — no host dependency leakage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H2, Spring Boot, JWT, SQS SDK all pinned via Maven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mvn clean package runs in CI — no "works on my machine"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92040" y="3246120"/>
            <a:ext cx="3840480" cy="685800"/>
          </a:xfrm>
          <a:prstGeom prst="rect">
            <a:avLst/>
          </a:prstGeom>
          <a:solidFill>
            <a:srgbClr val="0A0F1E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01768" y="3319272"/>
            <a:ext cx="36210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&lt;dependency&gt;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&lt;groupId&gt;com.h2database&lt;/groupId&gt;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&lt;artifactId&gt;h2&lt;/artifactId&gt;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&lt;scope&gt;runtime&lt;/scope&gt;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&lt;/dependency&gt;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92040" y="4005072"/>
            <a:ext cx="3840480" cy="685800"/>
          </a:xfrm>
          <a:prstGeom prst="rect">
            <a:avLst/>
          </a:prstGeom>
          <a:solidFill>
            <a:srgbClr val="1A1A3A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4069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Containerized — identical deps in dev, CI, and prod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★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3 — Config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766560" y="201168"/>
            <a:ext cx="2103120" cy="320040"/>
          </a:xfrm>
          <a:prstGeom prst="rect">
            <a:avLst/>
          </a:prstGeom>
          <a:solidFill>
            <a:srgbClr val="3A1A0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39712" y="2011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Highlighted by instructor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config in the environment — never in 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3258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implemented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1719072"/>
            <a:ext cx="4114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config value uses ${ENV_VAR:default} pattern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JWT_SECRET injected from AWS SSM Parameter Store at ECS launch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SERVER_PORT, EUREKA_URL, USER_SERVICE_URL all env-driven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AWS_REGION, USER_NAME_CHANGES_QUEUE_URL from ECS task env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secrets committed to Git — zero plaintext credentials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685032"/>
            <a:ext cx="4114800" cy="1261872"/>
          </a:xfrm>
          <a:prstGeom prst="rect">
            <a:avLst/>
          </a:prstGeom>
          <a:solidFill>
            <a:srgbClr val="0A0F1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3758184"/>
            <a:ext cx="38953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application.properties — NO hardcoded values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server.port=${SERVER_PORT:8085}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eureka.client.service-url.defaultZone=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${EUREKA_URL:http://localhost:8761/eureka}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jwt.secret=${JWT_SECRET:fallback-dev-only}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aws.sqs.queue-url=${USER_NAME_CHANGES_QUEUE_URL:...}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user.service.url=${USER_SERVICE_URL:http://user-service}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0" y="13258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injection flow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1719072"/>
            <a:ext cx="4160520" cy="713232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719072"/>
            <a:ext cx="416052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1810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SSM Parameter Store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21031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/library-prod/jwt-secret  (SecureString)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629400" y="2432304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9E0B"/>
                </a:solidFill>
              </a:rPr>
              <a:t>▼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2542032"/>
            <a:ext cx="4160520" cy="713232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542032"/>
            <a:ext cx="416052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26334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Task Definition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92040" y="29260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secrets: [ { name: JWT_SECRET, valueFrom: ssm } ]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629400" y="3255264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18CF8"/>
                </a:solidFill>
              </a:rPr>
              <a:t>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3364992"/>
            <a:ext cx="4160520" cy="713232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364992"/>
            <a:ext cx="416052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34564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Environment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3749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JWT_SECRET=&lt;value injected at launch&gt;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29400" y="4078224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8BDF8"/>
                </a:solidFill>
              </a:rPr>
              <a:t>▼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54880" y="4187952"/>
            <a:ext cx="4160520" cy="713232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54880" y="4187952"/>
            <a:ext cx="416052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42793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App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92040" y="4572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@Value("${jwt.secret}")  reads from env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★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 — Backing Services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766560" y="201168"/>
            <a:ext cx="2103120" cy="320040"/>
          </a:xfrm>
          <a:prstGeom prst="rect">
            <a:avLst/>
          </a:prstGeom>
          <a:solidFill>
            <a:srgbClr val="3A1A0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39712" y="2011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Highlighted by instructor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backing services as attached resources — accessed via URL/config, swappable without code changes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371600"/>
            <a:ext cx="4160520" cy="1719072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371600"/>
            <a:ext cx="416052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813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H2 In-Memory 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18470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user-service and book-service use H2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URL: jdbc:h2:mem:userdb — purely config-driven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Swappable to PostgreSQL by changing 1 property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377440"/>
            <a:ext cx="3886200" cy="621792"/>
          </a:xfrm>
          <a:prstGeom prst="rect">
            <a:avLst/>
          </a:prstGeom>
          <a:solidFill>
            <a:srgbClr val="0A0F1E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" y="2450592"/>
            <a:ext cx="3666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spring.datasource.url=${DB_URL:jdbc:h2:mem:userdb}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spring.datasource.driver-class-name=org.h2.Driver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4160520" cy="1719072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371600"/>
            <a:ext cx="416052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4813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📨  AWS SQS Queue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18470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user-name-changes queue — async messaging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URL injected via USER_NAME_CHANGES_QUEUE_URL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LocalStack used locally, real SQS in production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92040" y="2377440"/>
            <a:ext cx="3886200" cy="621792"/>
          </a:xfrm>
          <a:prstGeom prst="rect">
            <a:avLst/>
          </a:prstGeom>
          <a:solidFill>
            <a:srgbClr val="0A0F1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01768" y="2450592"/>
            <a:ext cx="3666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aws.sqs.queue-url=${USER_NAME_CHANGES_QUEUE_URL: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http://localhost:4566/.../user-name-changes}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200400"/>
            <a:ext cx="4160520" cy="1719072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200400"/>
            <a:ext cx="416052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310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Eureka Service Registry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" y="36758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register with Eureka on startup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 URL injected via EUREKA_URL env var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hardcoded IPs — service discovery is the backing resource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11480" y="4206240"/>
            <a:ext cx="3886200" cy="621792"/>
          </a:xfrm>
          <a:prstGeom prst="rect">
            <a:avLst/>
          </a:prstGeom>
          <a:solidFill>
            <a:srgbClr val="0A0F1E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" y="4279392"/>
            <a:ext cx="3666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eureka.client.service-url.defaultZone=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${EUREKA_URL:http://localhost:8761/eureka}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3200400"/>
            <a:ext cx="4160520" cy="1719072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3200400"/>
            <a:ext cx="416052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3310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AWS SSM Parameter Store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92040" y="36758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secret stored as SecureString in SSM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pulls it at task launch — app never sees plaintext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Swappable to Secrets Manager with zero code changes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92040" y="4206240"/>
            <a:ext cx="3886200" cy="621792"/>
          </a:xfrm>
          <a:prstGeom prst="rect">
            <a:avLst/>
          </a:prstGeom>
          <a:solidFill>
            <a:srgbClr val="0A0F1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01768" y="4279392"/>
            <a:ext cx="3666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Terraform: ECS task reads from SSM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secrets: [{ name: JWT_SECRET,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valueFrom: arn:aws:ssm:...:jwt-secret }]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5 — Build, Release, Run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separate the build, release, and run stages — code does not change between stages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371600"/>
            <a:ext cx="2834640" cy="3611880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1371600"/>
            <a:ext cx="283464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" y="1481328"/>
            <a:ext cx="914400" cy="3840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" y="148132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" y="1920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 mvn clean package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8328" y="2267712"/>
            <a:ext cx="2606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+ Maven compiles all 4 services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immutable JAR artifacts (skip tests in CI)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 built: FROM eclipse-temurin:21-jre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tagged with Git SHA — permanent identifier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" y="3639312"/>
            <a:ext cx="2606040" cy="804672"/>
          </a:xfrm>
          <a:prstGeom prst="rect">
            <a:avLst/>
          </a:prstGeom>
          <a:solidFill>
            <a:srgbClr val="0A0F1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" y="3712464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mvn clean package -DskipTests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$ECR_URL:$GITHUB_SHA 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97180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200400" y="1371600"/>
            <a:ext cx="2834640" cy="361188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1371600"/>
            <a:ext cx="283464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0128" y="1481328"/>
            <a:ext cx="91440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10128" y="148132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10128" y="1920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 push — immutable tagged image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10128" y="2267712"/>
            <a:ext cx="2606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 pushed to AWS ECR repository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tags: &lt;git-sha&gt; (permanent) + latest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= specific image SHA + ECS task definition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versioned and can be rolled back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10128" y="3639312"/>
            <a:ext cx="2606040" cy="804672"/>
          </a:xfrm>
          <a:prstGeom prst="rect">
            <a:avLst/>
          </a:prstGeom>
          <a:solidFill>
            <a:srgbClr val="0A0F1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9856" y="3712464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 $ECR_URL:$GITHUB_SHA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 $ECR_URL:latest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172200" y="1371600"/>
            <a:ext cx="2834640" cy="361188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72200" y="1371600"/>
            <a:ext cx="283464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1928" y="1481328"/>
            <a:ext cx="914400" cy="38404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281928" y="148132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81928" y="1920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 — pulls and runs the image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81928" y="2267712"/>
            <a:ext cx="2606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ecs update-service --force-new-deployment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pulls :latest from ECR into Fargate task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vars injected at runtime from SSM + task def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shutdown: old task stops after new is healthy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81928" y="3639312"/>
            <a:ext cx="2606040" cy="804672"/>
          </a:xfrm>
          <a:prstGeom prst="rect">
            <a:avLst/>
          </a:prstGeom>
          <a:solidFill>
            <a:srgbClr val="0A0F1E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91656" y="3712464"/>
            <a:ext cx="2386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ecs update-service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--cluster library-prod-cluster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--service user-service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--force-new-deployment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6 — Processes  &amp;  Factor 7 — Port Binding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60520" cy="406908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60120"/>
            <a:ext cx="416052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  Stateless Processes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app as one or more stateless processes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828800"/>
            <a:ext cx="3840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ECS Fargate task is a stateless process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DB is per-container — no shared state between replicas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sticky sessions — JWT tokens carry all auth state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 file storage — all data in backing services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task can be killed and replaced with zero data loss by design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639312"/>
            <a:ext cx="3840480" cy="749808"/>
          </a:xfrm>
          <a:prstGeom prst="rect">
            <a:avLst/>
          </a:prstGeom>
          <a:solidFill>
            <a:srgbClr val="0A0F1E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3712464"/>
            <a:ext cx="3621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ECS: stateless Fargate tasks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desired_count =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Scale out: increase desired_count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shared disk, no shared memory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4453128"/>
            <a:ext cx="3840480" cy="384048"/>
          </a:xfrm>
          <a:prstGeom prst="rect">
            <a:avLst/>
          </a:prstGeom>
          <a:solidFill>
            <a:srgbClr val="0F2A1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44531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Kill any task. Restart it. System stays consistent.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960120"/>
            <a:ext cx="4160520" cy="4069080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960120"/>
            <a:ext cx="416052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F7  Port Binding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services via port binding — self-contained HTTP servers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82880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is a self-contained Spring Boot app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don't need Apache/nginx — embedded Tomcat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configured via SERVER_PORT env var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92040" y="2971800"/>
            <a:ext cx="2560320" cy="384048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2971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040880" y="3008376"/>
            <a:ext cx="749808" cy="31089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0" y="300837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3447288"/>
            <a:ext cx="2560320" cy="384048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344728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Service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40880" y="3483864"/>
            <a:ext cx="749808" cy="310896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40880" y="34838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922776"/>
            <a:ext cx="2560320" cy="384048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39227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Service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040880" y="3959352"/>
            <a:ext cx="749808" cy="31089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40880" y="395935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92040" y="4398264"/>
            <a:ext cx="2560320" cy="384048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3480" y="439826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 Server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040880" y="4434840"/>
            <a:ext cx="749808" cy="31089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0" y="443484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:8761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4956048"/>
            <a:ext cx="3840480" cy="0"/>
          </a:xfrm>
          <a:prstGeom prst="rect">
            <a:avLst/>
          </a:prstGeom>
          <a:solidFill>
            <a:srgbClr val="0A0F1E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01768" y="5029200"/>
            <a:ext cx="3621024" cy="-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4919472"/>
            <a:ext cx="3840480" cy="228600"/>
          </a:xfrm>
          <a:prstGeom prst="rect">
            <a:avLst/>
          </a:prstGeom>
          <a:solidFill>
            <a:srgbClr val="1A1A3A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83480" y="4910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server.port=${SERVER_PORT:8085}   ← per service, env-driven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8 — Concurrency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via the process model — horizontal scaling by adding more process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35331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concurrency is achieved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desired_count controls the number of running task replicas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distributes incoming requests across healthy tasks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services — any replica handles any request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 load-balances inter-service calls (@LoadBalanced RestTemplate)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 consumer in book-service handles async messages concurrently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Boot's embedded Tomcat handles multiple concurrent HTTP threads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3813048"/>
            <a:ext cx="4114800" cy="1143000"/>
          </a:xfrm>
          <a:prstGeom prst="rect">
            <a:avLst/>
          </a:prstGeom>
          <a:solidFill>
            <a:srgbClr val="0A0F1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3886200"/>
            <a:ext cx="389534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Scale user-service to 3 replicas: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"aws_ecs_service" "user_service"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desired_count = 3  # change and apply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ALB automatically load-balances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Eureka discovers all 3 instances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0" y="135331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scaling model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37760" y="1783080"/>
            <a:ext cx="1005840" cy="2286000"/>
          </a:xfrm>
          <a:prstGeom prst="rect">
            <a:avLst/>
          </a:prstGeom>
          <a:solidFill>
            <a:srgbClr val="1A2A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2130552"/>
            <a:ext cx="73152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0116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BDF8"/>
                </a:solidFill>
              </a:rPr>
              <a:t>→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75120" y="1828800"/>
            <a:ext cx="1737360" cy="658368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18288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user-service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2907792"/>
            <a:ext cx="73152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278892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BDF8"/>
                </a:solidFill>
              </a:rPr>
              <a:t>→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675120" y="2606040"/>
            <a:ext cx="1737360" cy="658368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260604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user-service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43600" y="3685032"/>
            <a:ext cx="73152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356616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BDF8"/>
                </a:solidFill>
              </a:rPr>
              <a:t>→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75120" y="3383280"/>
            <a:ext cx="1737360" cy="658368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75120" y="338328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user-service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37760" y="4818888"/>
            <a:ext cx="3840480" cy="210312"/>
          </a:xfrm>
          <a:prstGeom prst="rect">
            <a:avLst/>
          </a:prstGeom>
          <a:solidFill>
            <a:srgbClr val="0F2A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deployment: desired_count = 1 (demo) — trivially scalable to 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F9  ★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9 — Disposability  &amp;  Graceful Shutdown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766560" y="201168"/>
            <a:ext cx="2103120" cy="320040"/>
          </a:xfrm>
          <a:prstGeom prst="rect">
            <a:avLst/>
          </a:prstGeom>
          <a:solidFill>
            <a:srgbClr val="3A1A0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39712" y="2011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Highlighted by instructor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robustness with fast startup and graceful shutdown — processes are disposable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325880"/>
            <a:ext cx="4160520" cy="192024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325880"/>
            <a:ext cx="416052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447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Startup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" y="1828800"/>
            <a:ext cx="3840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DB starts instantly — no connection pool wait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DataInitializer seeds admin user on first startup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auto-creates schema (ddl-auto=create) on launch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health check: /actuator/health with 60-90s start period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310128"/>
            <a:ext cx="4160520" cy="1664208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3310128"/>
            <a:ext cx="416052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4290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Shutdown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81304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server.shutdown=graceful — finishes in-flight requests before stopping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spring.lifecycle.timeout-per-shutdown-phase=8s (user) / 30s (gateway)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stopTimeout=10s gives container time to drain connections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3258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719072"/>
            <a:ext cx="4160520" cy="1417320"/>
          </a:xfrm>
          <a:prstGeom prst="rect">
            <a:avLst/>
          </a:prstGeom>
          <a:solidFill>
            <a:srgbClr val="0A0F1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4608" y="1792224"/>
            <a:ext cx="394106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application.properties (user-service)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server.shutdown=graceful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spring.lifecycle.timeout-per-shutdown-phase=8s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application.properties (api-gateway)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server.shutdown=graceful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spring.lifecycle.timeout-per-shutdown-phase=30s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3218688"/>
            <a:ext cx="4160520" cy="1024128"/>
          </a:xfrm>
          <a:prstGeom prst="rect">
            <a:avLst/>
          </a:prstGeom>
          <a:solidFill>
            <a:srgbClr val="0A0F1E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3291840"/>
            <a:ext cx="39410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ECS task definition (ecs.tf)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stopTimeout = 10  # seconds before SIGKILL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ECS service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deployment_minimum_healthy_percent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deployment_maximum_percent = 100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4315968"/>
            <a:ext cx="4160520" cy="658368"/>
          </a:xfrm>
          <a:prstGeom prst="rect">
            <a:avLst/>
          </a:prstGeom>
          <a:solidFill>
            <a:srgbClr val="2A1A1A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4334256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sequence: SIGTERM → drain requests (8s) → ECS timeout (10s) → SIGKILL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zero dropped requests during rolling deploy or terraform destroy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10 — Dev/Prod Parity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9601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development, staging, and production as similar as possible — close the time, personnel, and tools gaps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417320"/>
            <a:ext cx="4206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Docker image runs locally and in ECS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profiles not used — same config pattern everywhere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DB works identically in dev and prod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LocalStack endpoint override for SQS in local dev: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aws.sqs.endpoint-override=${AWS_SQS_ENDPOINT_OVERRIDE:}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differences only in env vars — not in code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3127248"/>
            <a:ext cx="4206240" cy="1828800"/>
          </a:xfrm>
          <a:prstGeom prst="rect">
            <a:avLst/>
          </a:prstGeom>
          <a:solidFill>
            <a:srgbClr val="0A0F1E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3200400"/>
            <a:ext cx="398678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Local dev: set env vars manually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JWT_SECRET=dev-secret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EUREKA_URL=http://localhost:8761/eureka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AWS_SQS_ENDPOINT_OVERRIDE=http://localhost:4566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Production: same vars, injected by ECS task definition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Code is IDENTICAL — only env vars change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-jar user-service.jar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846320" y="1325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vs Prod comparison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46320" y="1737360"/>
            <a:ext cx="4023360" cy="34747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7373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08192" y="17373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60920" y="173736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13648" y="173736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2121408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212140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08192" y="21214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JVM / Docker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60920" y="21214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13648" y="2121408"/>
            <a:ext cx="228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46320" y="2560320"/>
            <a:ext cx="4023360" cy="420624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56032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08192" y="25603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60920" y="25603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613648" y="2560320"/>
            <a:ext cx="228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46320" y="2999232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299923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08192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LocalStack SQS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36092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SQS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613648" y="2999232"/>
            <a:ext cx="228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46320" y="3438144"/>
            <a:ext cx="4023360" cy="420624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343814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disc.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08192" y="343814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 (localhost)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60920" y="343814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 (ECS)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613648" y="3438144"/>
            <a:ext cx="228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46320" y="3877056"/>
            <a:ext cx="4023360" cy="42062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92040" y="38770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08192" y="38770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vars / defaults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60920" y="38770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 + task env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613648" y="3877056"/>
            <a:ext cx="228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46320" y="4315968"/>
            <a:ext cx="4023360" cy="420624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431596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08192" y="431596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Dockerfile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360920" y="431596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image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613648" y="4315968"/>
            <a:ext cx="228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11 — Logs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logs as event streams — write to stdout, let the platform aggregate them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25880"/>
            <a:ext cx="4160520" cy="3657600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325880"/>
            <a:ext cx="416052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447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182880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write to stdout/stderr — no log files on disk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awslogs driver ships container stdout → CloudWatch Logs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log group per service: /ecs/library-prod/&lt;service&gt;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Insights enabled on ECS cluster for metrics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default logging (Logback) writes to stdout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/health endpoint exposes structured health JSON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721608"/>
            <a:ext cx="3840480" cy="1115568"/>
          </a:xfrm>
          <a:prstGeom prst="rect">
            <a:avLst/>
          </a:prstGeom>
          <a:solidFill>
            <a:srgbClr val="0A0F1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3794760"/>
            <a:ext cx="36210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ecs.tf — awslogs driver config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logConfiguration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logDriver = "awslogs"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options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awslogs-group  = "/ecs/library-prod/user-service"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awslogs-region = var.aws_region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awslogs-stream-prefix = "ecs"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54880" y="1325880"/>
            <a:ext cx="4160520" cy="365760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325880"/>
            <a:ext cx="416052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4447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stream flow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92040" y="1874520"/>
            <a:ext cx="3840480" cy="566928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19293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83480" y="21671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stdout (System.out)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629400" y="244144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8BDF8"/>
                </a:solidFill>
              </a:rPr>
              <a:t>▼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92040" y="2587752"/>
            <a:ext cx="3840480" cy="566928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26426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awslogs driver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8348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CloudWatch Logs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629400" y="315468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18CF8"/>
                </a:solidFill>
              </a:rPr>
              <a:t>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92040" y="3300984"/>
            <a:ext cx="3840480" cy="566928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33558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0" y="35935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/ecs/library-prod/&lt;service&gt;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629400" y="3867912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DE80"/>
                </a:solidFill>
              </a:rPr>
              <a:t>▼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92040" y="4014216"/>
            <a:ext cx="3840480" cy="566928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8348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team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430682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AWS Console / CLI / alerts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92040" y="4681728"/>
            <a:ext cx="3840480" cy="292608"/>
          </a:xfrm>
          <a:prstGeom prst="rect">
            <a:avLst/>
          </a:prstGeom>
          <a:solidFill>
            <a:srgbClr val="0F2A1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83480" y="4690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management.endpoints.web.exposure.include=health,info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12 — Admin Processes  &amp;  Factor 13 — API First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60520" cy="4069080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60120"/>
            <a:ext cx="416052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 Admin Processes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admin tasks as one-off processes in the same environment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828800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DataInitializer.java — ApplicationRunner seeds admin on startup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the same container as the app — same env, same config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endpoints (change-status, change-name) are secured REST APIs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scripts manage infra admin (apply/destroy) as one-off CLI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demo.sh orchestrates: destroy → apply → push as a one-off admin script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383280"/>
            <a:ext cx="3840480" cy="777240"/>
          </a:xfrm>
          <a:prstGeom prst="rect">
            <a:avLst/>
          </a:prstGeom>
          <a:solidFill>
            <a:srgbClr val="0A0F1E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3456432"/>
            <a:ext cx="36210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@Component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DataInitializer implements ApplicationRunner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void run(ApplicationArguments args)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Seeds admin user on every cold start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(repo.findByUsername("admin").isEmpty())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repo.save(adminUser);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4233672"/>
            <a:ext cx="3840480" cy="566928"/>
          </a:xfrm>
          <a:prstGeom prst="rect">
            <a:avLst/>
          </a:prstGeom>
          <a:solidFill>
            <a:srgbClr val="2A1A1A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423367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process = same container, same env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separate admin DB or privileged access needed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960120"/>
            <a:ext cx="4160520" cy="4069080"/>
          </a:xfrm>
          <a:prstGeom prst="rect">
            <a:avLst/>
          </a:prstGeom>
          <a:solidFill>
            <a:srgbClr val="1E293B"/>
          </a:solidFill>
          <a:ln w="19050">
            <a:solidFill>
              <a:srgbClr val="E879F9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960120"/>
            <a:ext cx="4160520" cy="64008"/>
          </a:xfrm>
          <a:prstGeom prst="rect">
            <a:avLst/>
          </a:prstGeom>
          <a:solidFill>
            <a:srgbClr val="E879F9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F13  API First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API contract before implementation — API is the product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828800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Cloud Gateway MVC defines the API surface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expose REST endpoints with consistent JSON responses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enforces routing contract before requests reach services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Polymorphic book types via Jackson @JsonTypeInfo discriminator field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error responses: { "error": "..." } / { "message": "..." }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92040" y="3383280"/>
            <a:ext cx="3840480" cy="777240"/>
          </a:xfrm>
          <a:prstGeom prst="rect">
            <a:avLst/>
          </a:prstGeom>
          <a:solidFill>
            <a:srgbClr val="0A0F1E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01768" y="3456432"/>
            <a:ext cx="36210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API Gateway routes (SpringCloudConfig.java)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route("books")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.route(path("/book/**"), http())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.filter(lb("book-service")).build();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route("user")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.route(path("/auth/**"), http())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.filter(lb("user-service")).build();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92040" y="4233672"/>
            <a:ext cx="3840480" cy="566928"/>
          </a:xfrm>
          <a:prstGeom prst="rect">
            <a:avLst/>
          </a:prstGeom>
          <a:solidFill>
            <a:srgbClr val="1A0A2A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423367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entry point → clean API contract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consumers hit the gateway — not individual services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14 — Telemetry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Remotely monitor application health, metrics, and behavior — observable from outside the process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53312"/>
            <a:ext cx="4160520" cy="1755648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353312"/>
            <a:ext cx="416052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Actuator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792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+ Info endpoints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2057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services expose /actuator/health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show-details=always — exposes DB, disk, ping status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uses /actuator/health as container health check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2496312"/>
            <a:ext cx="3858768" cy="512064"/>
          </a:xfrm>
          <a:prstGeom prst="rect">
            <a:avLst/>
          </a:prstGeom>
          <a:solidFill>
            <a:srgbClr val="0A0F1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" y="2569464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management.endpoints.web.exposure.include=health,info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management.endpoint.health.show-details=always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1353312"/>
            <a:ext cx="4160520" cy="1755648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353312"/>
            <a:ext cx="416052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CloudWatch Logs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1792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log aggregation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92040" y="2057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from every container shipped to CloudWatch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group per service: /ecs/library-prod/&lt;service&gt;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alert on errors from AWS Console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92040" y="2496312"/>
            <a:ext cx="3858768" cy="512064"/>
          </a:xfrm>
          <a:prstGeom prst="rect">
            <a:avLst/>
          </a:prstGeom>
          <a:solidFill>
            <a:srgbClr val="0A0F1E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01768" y="2569464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Retention configurable, log streams per ECS task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Log insights queries for error analysis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227832"/>
            <a:ext cx="4160520" cy="1755648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227832"/>
            <a:ext cx="416052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Container Insights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" y="36667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Cluster-level metrics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39319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memory, network per service/task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on ECS cluster via Terraform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can be wired to CloudWatch Alarms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4370832"/>
            <a:ext cx="3858768" cy="512064"/>
          </a:xfrm>
          <a:prstGeom prst="rect">
            <a:avLst/>
          </a:prstGeom>
          <a:solidFill>
            <a:srgbClr val="0A0F1E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1208" y="4443984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"aws_ecs_cluster" "main"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setting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 = "containerInsights"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 = "enabled"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54880" y="3227832"/>
            <a:ext cx="4160520" cy="1755648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227832"/>
            <a:ext cx="416052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Access Logs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92040" y="36667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Request-level observability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39319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through the ALB is logged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Latency, status code, target health all recorded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service health status visible in target groups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4370832"/>
            <a:ext cx="3858768" cy="512064"/>
          </a:xfrm>
          <a:prstGeom prst="rect">
            <a:avLst/>
          </a:prstGeom>
          <a:solidFill>
            <a:srgbClr val="0A0F1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01768" y="4443984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ALB target group health: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unhealthy_threshold = 5  # tolerates slow starts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healthy_threshold = 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645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15 — Authentication &amp; Authorization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960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built-in, not bolted-on — use identity providers and enforce authorization at every layer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35331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4114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tokens issued by User Service on login (HS256, 1-hour TTL)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JWT_SECRET stored in AWS SSM — never in code or git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services validate tokens independently (shared secret)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@PreAuthorize("hasRole('ADMIN')") on add/delete book, change-status, change-name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start ACTIVE — admin controls status via /auth/change-status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Service verifies user ACTIVE status on every request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3291840"/>
            <a:ext cx="4160520" cy="1664208"/>
          </a:xfrm>
          <a:prstGeom prst="rect">
            <a:avLst/>
          </a:prstGeom>
          <a:solidFill>
            <a:srgbClr val="0A0F1E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3364992"/>
            <a:ext cx="394106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BookController.java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@PreAuthorize("hasRole('ADMIN')")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@PostMapping("/add")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ResponseEntity&lt;?&gt; addBook(...)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status = getUserStatus(request); // calls user-service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(!"ACTIVE".equalsIgnoreCase(status))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403 FORBIDDEN;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proceed with add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@PreAuthorize("hasRole('ADMIN')")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@DeleteMapping("/{ISBN}")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0" y="135331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Layer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1755648"/>
            <a:ext cx="4160520" cy="987552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755648"/>
            <a:ext cx="416052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18470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→ AWS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19456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federation — no long-lived keys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library-prod-github-actions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condition: repo:Jsploitt/SpringCloud...:*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0" y="2834640"/>
            <a:ext cx="4160520" cy="987552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834640"/>
            <a:ext cx="4160520" cy="6400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926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Tasks → AWS Services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3273552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Task Role: SQS send/receive/delete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Execution Role: ECR pull, SSM read, CloudWatch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— no AdministratorAccess at runtime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3913632"/>
            <a:ext cx="4160520" cy="987552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3913632"/>
            <a:ext cx="416052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40050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 Parameter Store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92040" y="4352544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secret as SecureString (KMS-encrypted)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ECS execution role can decrypt (kms:Decrypt)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reads via ${JWT_SECRET} env var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0" y="4846320"/>
            <a:ext cx="4160520" cy="182880"/>
          </a:xfrm>
          <a:prstGeom prst="rect">
            <a:avLst/>
          </a:prstGeom>
          <a:solidFill>
            <a:srgbClr val="1A0A1A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4846320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depth: App JWT  +  IAM Roles  +  Security Groups  +  SSM encryption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Factors — Compliance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54864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3327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01498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Codebase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1307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mono-repo, one pipeline per service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960120"/>
            <a:ext cx="54864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03327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84448" y="101498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Dependencies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84448" y="1307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pom.xml + Docker image isolation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172200" y="96012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960120"/>
            <a:ext cx="54864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03327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56248" y="101498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F3★  Config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56248" y="1307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${ENV_VAR:default} in all properties, JWT from SSM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8600" y="192024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28600" y="1920240"/>
            <a:ext cx="54864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199339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2648" y="19751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F4★  Backing Services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22677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H2, SQS, Eureka, SSM — all URL/config-driven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00400" y="192024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0" y="1920240"/>
            <a:ext cx="54864" cy="8686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199339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84448" y="19751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 Build/Release/Run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84448" y="22677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mvn build → ECR image → ECS deploy (3 strict stages)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72200" y="192024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72200" y="1920240"/>
            <a:ext cx="54864" cy="86868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63640" y="199339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56248" y="19751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  Processes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56248" y="22677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Fargate tasks, JWT carries session state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28600" y="288036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28600" y="2880360"/>
            <a:ext cx="54864" cy="86868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95351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2648" y="29352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F7  Port Binding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2648" y="32278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Tomcat, SERVER_PORT env var per service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200400" y="288036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200400" y="2880360"/>
            <a:ext cx="54864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1840" y="295351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584448" y="29352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F8  Concurrency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584448" y="32278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desired_count scales, ALB load-balances, @LoadBalanced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72200" y="288036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172200" y="2880360"/>
            <a:ext cx="54864" cy="868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63640" y="295351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556248" y="29352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F9★  Disposability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556248" y="32278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server.shutdown=graceful, 8-30s phase, stopTimeout=10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28600" y="384048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228600" y="3840480"/>
            <a:ext cx="54864" cy="8686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" y="391363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12648" y="389534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F10  Dev/Prod Parity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12648" y="41879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Docker image, same config pattern, H2 in both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00400" y="384048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3200400" y="3840480"/>
            <a:ext cx="54864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291840" y="391363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3584448" y="389534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F11  Logs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3584448" y="41879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→ awslogs → CloudWatch Logs per service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72200" y="384048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172200" y="3840480"/>
            <a:ext cx="54864" cy="868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63640" y="391363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6556248" y="389534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 Admin Processes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556248" y="41879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DataInitializer ApplicationRunner, Terraform scripts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28600" y="480060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E879F9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228600" y="4800600"/>
            <a:ext cx="54864" cy="868680"/>
          </a:xfrm>
          <a:prstGeom prst="rect">
            <a:avLst/>
          </a:prstGeom>
          <a:solidFill>
            <a:srgbClr val="E879F9"/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" y="487375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612648" y="485546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F13  API First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2648" y="5148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Cloud Gateway MVC enforces API contract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3200400" y="480060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3200400" y="4800600"/>
            <a:ext cx="54864" cy="86868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291840" y="487375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3584448" y="485546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F14  Telemetry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3584448" y="5148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/health, CloudWatch, Container Insights, ALB logs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172200" y="4800600"/>
            <a:ext cx="2834640" cy="868680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172200" y="4800600"/>
            <a:ext cx="54864" cy="8686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63640" y="4873752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8" name="Text 76"/>
          <p:cNvSpPr/>
          <p:nvPr/>
        </p:nvSpPr>
        <p:spPr>
          <a:xfrm>
            <a:off x="6556248" y="485546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F15  Auth &amp; Authz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556248" y="5148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@PreAuthorize + IAM Roles + OIDC + SSM SecureString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274320" y="4919472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= Factors 3, 4, 9 specifically highlighted by instructor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76472" y="0"/>
            <a:ext cx="64008" cy="514350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94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Factors.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1155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Checks.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" y="1783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 + Dependencies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74320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via environment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4320" y="2368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Backing services attached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4320" y="266090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build/release/run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4320" y="2953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processes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74320" y="3246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binding + concurrency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4320" y="35387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shutdown + fast start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38313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Dev/prod parity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" y="41239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as event streams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4320" y="44165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+ API first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74320" y="4709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+ Auth/Authz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0" y="914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4114800" y="162763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Design.</a:t>
            </a:r>
            <a:endParaRPr lang="en-US" sz="5600" dirty="0"/>
          </a:p>
        </p:txBody>
      </p:sp>
      <p:sp>
        <p:nvSpPr>
          <p:cNvPr id="19" name="Text 17"/>
          <p:cNvSpPr/>
          <p:nvPr/>
        </p:nvSpPr>
        <p:spPr>
          <a:xfrm>
            <a:off x="4114800" y="25146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factor intentionally addressed.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traceable to a principle.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 — destroy and restore in 7 minutes.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114800" y="3749040"/>
            <a:ext cx="4754880" cy="1051560"/>
          </a:xfrm>
          <a:prstGeom prst="rect">
            <a:avLst/>
          </a:prstGeom>
          <a:solidFill>
            <a:srgbClr val="1E293B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38130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20624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github.com/Jsploitt/SpringCloudLibraryPreAuthorized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library-prod-alb-2029213111.us-east-1.elb.amazonaws.com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SpringCloud Library — 15-Factor Methodology</dc:title>
  <dc:subject>PptxGenJS Presentation</dc:subject>
  <dc:creator>PptxGenJS</dc:creator>
  <cp:lastModifiedBy>PptxGenJS</cp:lastModifiedBy>
  <cp:revision>1</cp:revision>
  <dcterms:created xsi:type="dcterms:W3CDTF">2026-05-03T13:59:36Z</dcterms:created>
  <dcterms:modified xsi:type="dcterms:W3CDTF">2026-05-03T13:59:36Z</dcterms:modified>
</cp:coreProperties>
</file>